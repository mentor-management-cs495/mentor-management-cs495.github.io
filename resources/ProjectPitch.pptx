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  <Override PartName="/ppt/media/image7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 b="def" i="def"/>
      <a:tcStyle>
        <a:tcBdr/>
        <a:fill>
          <a:solidFill>
            <a:srgbClr val="E7E9EC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 b="def" i="def"/>
      <a:tcStyle>
        <a:tcBdr/>
        <a:fill>
          <a:solidFill>
            <a:srgbClr val="E7EA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 b="def" i="def"/>
      <a:tcStyle>
        <a:tcBdr/>
        <a:fill>
          <a:solidFill>
            <a:srgbClr val="E8F0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Aptos"/>
      </a:defRPr>
    </a:lvl1pPr>
    <a:lvl2pPr indent="228600" latinLnBrk="0">
      <a:defRPr sz="1200">
        <a:latin typeface="+mn-lt"/>
        <a:ea typeface="+mn-ea"/>
        <a:cs typeface="+mn-cs"/>
        <a:sym typeface="Aptos"/>
      </a:defRPr>
    </a:lvl2pPr>
    <a:lvl3pPr indent="457200" latinLnBrk="0">
      <a:defRPr sz="1200">
        <a:latin typeface="+mn-lt"/>
        <a:ea typeface="+mn-ea"/>
        <a:cs typeface="+mn-cs"/>
        <a:sym typeface="Aptos"/>
      </a:defRPr>
    </a:lvl3pPr>
    <a:lvl4pPr indent="685800" latinLnBrk="0">
      <a:defRPr sz="1200">
        <a:latin typeface="+mn-lt"/>
        <a:ea typeface="+mn-ea"/>
        <a:cs typeface="+mn-cs"/>
        <a:sym typeface="Aptos"/>
      </a:defRPr>
    </a:lvl4pPr>
    <a:lvl5pPr indent="914400" latinLnBrk="0">
      <a:defRPr sz="1200">
        <a:latin typeface="+mn-lt"/>
        <a:ea typeface="+mn-ea"/>
        <a:cs typeface="+mn-cs"/>
        <a:sym typeface="Aptos"/>
      </a:defRPr>
    </a:lvl5pPr>
    <a:lvl6pPr indent="1143000" latinLnBrk="0">
      <a:defRPr sz="1200">
        <a:latin typeface="+mn-lt"/>
        <a:ea typeface="+mn-ea"/>
        <a:cs typeface="+mn-cs"/>
        <a:sym typeface="Aptos"/>
      </a:defRPr>
    </a:lvl6pPr>
    <a:lvl7pPr indent="1371600" latinLnBrk="0">
      <a:defRPr sz="1200">
        <a:latin typeface="+mn-lt"/>
        <a:ea typeface="+mn-ea"/>
        <a:cs typeface="+mn-cs"/>
        <a:sym typeface="Aptos"/>
      </a:defRPr>
    </a:lvl7pPr>
    <a:lvl8pPr indent="1600200" latinLnBrk="0">
      <a:defRPr sz="1200">
        <a:latin typeface="+mn-lt"/>
        <a:ea typeface="+mn-ea"/>
        <a:cs typeface="+mn-cs"/>
        <a:sym typeface="Aptos"/>
      </a:defRPr>
    </a:lvl8pPr>
    <a:lvl9pPr indent="1828800" latinLnBrk="0">
      <a:defRPr sz="1200">
        <a:latin typeface="+mn-lt"/>
        <a:ea typeface="+mn-ea"/>
        <a:cs typeface="+mn-cs"/>
        <a:sym typeface="Aptos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757575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757575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757575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757575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757575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2400"/>
            </a:lvl1pPr>
            <a:lvl2pPr marL="0" indent="457200">
              <a:buSzTx/>
              <a:buFontTx/>
              <a:buNone/>
              <a:defRPr b="1" sz="2400"/>
            </a:lvl2pPr>
            <a:lvl3pPr marL="0" indent="914400">
              <a:buSzTx/>
              <a:buFontTx/>
              <a:buNone/>
              <a:defRPr b="1" sz="2400"/>
            </a:lvl3pPr>
            <a:lvl4pPr marL="0" indent="1371600">
              <a:buSzTx/>
              <a:buFontTx/>
              <a:buNone/>
              <a:defRPr b="1" sz="2400"/>
            </a:lvl4pPr>
            <a:lvl5pPr marL="0" indent="1828800"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757575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ptos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5.jpe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6.jpeg"/><Relationship Id="rId4" Type="http://schemas.openxmlformats.org/officeDocument/2006/relationships/image" Target="../media/image7.jpe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5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" name="Freeform: Shape 54"/>
          <p:cNvSpPr/>
          <p:nvPr/>
        </p:nvSpPr>
        <p:spPr>
          <a:xfrm>
            <a:off x="1114425" y="0"/>
            <a:ext cx="9963151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460" y="0"/>
                </a:moveTo>
                <a:lnTo>
                  <a:pt x="18140" y="0"/>
                </a:lnTo>
                <a:lnTo>
                  <a:pt x="18437" y="410"/>
                </a:lnTo>
                <a:cubicBezTo>
                  <a:pt x="20391" y="3250"/>
                  <a:pt x="21600" y="7172"/>
                  <a:pt x="21600" y="11505"/>
                </a:cubicBezTo>
                <a:cubicBezTo>
                  <a:pt x="21600" y="15296"/>
                  <a:pt x="20674" y="18773"/>
                  <a:pt x="19134" y="21485"/>
                </a:cubicBezTo>
                <a:lnTo>
                  <a:pt x="19065" y="21600"/>
                </a:lnTo>
                <a:lnTo>
                  <a:pt x="2535" y="21600"/>
                </a:lnTo>
                <a:lnTo>
                  <a:pt x="2466" y="21485"/>
                </a:lnTo>
                <a:cubicBezTo>
                  <a:pt x="926" y="18773"/>
                  <a:pt x="0" y="15296"/>
                  <a:pt x="0" y="11505"/>
                </a:cubicBezTo>
                <a:cubicBezTo>
                  <a:pt x="0" y="7172"/>
                  <a:pt x="1209" y="3250"/>
                  <a:pt x="3163" y="410"/>
                </a:cubicBezTo>
                <a:close/>
              </a:path>
            </a:pathLst>
          </a:custGeom>
          <a:solidFill>
            <a:srgbClr val="FFFFFF"/>
          </a:solidFill>
          <a:ln>
            <a:solidFill>
              <a:srgbClr val="EFEFEF"/>
            </a:solidFill>
            <a:miter/>
          </a:ln>
          <a:effectLst>
            <a:outerShdw sx="100000" sy="100000" kx="0" ky="0" algn="b" rotWithShape="0" blurRad="139700" dist="0" dir="0">
              <a:srgbClr val="D9D9D9">
                <a:alpha val="38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6" name="Freeform: Shape 49"/>
          <p:cNvSpPr/>
          <p:nvPr/>
        </p:nvSpPr>
        <p:spPr>
          <a:xfrm>
            <a:off x="1121664" y="0"/>
            <a:ext cx="9948673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460" y="0"/>
                </a:moveTo>
                <a:lnTo>
                  <a:pt x="18140" y="0"/>
                </a:lnTo>
                <a:lnTo>
                  <a:pt x="18437" y="410"/>
                </a:lnTo>
                <a:cubicBezTo>
                  <a:pt x="20391" y="3250"/>
                  <a:pt x="21600" y="7172"/>
                  <a:pt x="21600" y="11505"/>
                </a:cubicBezTo>
                <a:cubicBezTo>
                  <a:pt x="21600" y="15296"/>
                  <a:pt x="20674" y="18773"/>
                  <a:pt x="19134" y="21485"/>
                </a:cubicBezTo>
                <a:lnTo>
                  <a:pt x="19065" y="21600"/>
                </a:lnTo>
                <a:lnTo>
                  <a:pt x="2535" y="21600"/>
                </a:lnTo>
                <a:lnTo>
                  <a:pt x="2466" y="21485"/>
                </a:lnTo>
                <a:cubicBezTo>
                  <a:pt x="926" y="18773"/>
                  <a:pt x="0" y="15296"/>
                  <a:pt x="0" y="11505"/>
                </a:cubicBezTo>
                <a:cubicBezTo>
                  <a:pt x="0" y="7172"/>
                  <a:pt x="1209" y="3250"/>
                  <a:pt x="3163" y="41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7" name="Title 1"/>
          <p:cNvSpPr txBox="1"/>
          <p:nvPr>
            <p:ph type="ctrTitle"/>
          </p:nvPr>
        </p:nvSpPr>
        <p:spPr>
          <a:xfrm>
            <a:off x="1524003" y="1999614"/>
            <a:ext cx="9144001" cy="2764029"/>
          </a:xfrm>
          <a:prstGeom prst="rect">
            <a:avLst/>
          </a:prstGeom>
        </p:spPr>
        <p:txBody>
          <a:bodyPr anchor="ctr"/>
          <a:lstStyle>
            <a:lvl1pPr>
              <a:defRPr sz="7200">
                <a:ln w="22225" cap="flat">
                  <a:solidFill>
                    <a:srgbClr val="000000"/>
                  </a:solidFill>
                  <a:prstDash val="solid"/>
                  <a:miter lim="800000"/>
                </a:ln>
              </a:defRPr>
            </a:lvl1pPr>
          </a:lstStyle>
          <a:p>
            <a:pPr/>
            <a:r>
              <a:t>Mentor Matching Project Pitch</a:t>
            </a:r>
          </a:p>
        </p:txBody>
      </p:sp>
      <p:sp>
        <p:nvSpPr>
          <p:cNvPr id="98" name="Subtitle 2"/>
          <p:cNvSpPr txBox="1"/>
          <p:nvPr>
            <p:ph type="subTitle" sz="quarter" idx="1"/>
          </p:nvPr>
        </p:nvSpPr>
        <p:spPr>
          <a:xfrm>
            <a:off x="1966912" y="5645150"/>
            <a:ext cx="8258176" cy="63182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72000"/>
              </a:lnSpc>
              <a:defRPr sz="2300"/>
            </a:lvl1pPr>
          </a:lstStyle>
          <a:p>
            <a:pPr/>
            <a:r>
              <a:t>By: Jayden Grisaffe, Mason Wolf, Shanissee Lee, Cody Stern</a:t>
            </a:r>
          </a:p>
        </p:txBody>
      </p:sp>
      <p:sp>
        <p:nvSpPr>
          <p:cNvPr id="99" name="Rectangle 50"/>
          <p:cNvSpPr/>
          <p:nvPr/>
        </p:nvSpPr>
        <p:spPr>
          <a:xfrm>
            <a:off x="3718559" y="5524786"/>
            <a:ext cx="4754881" cy="27433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2" name="Title 1"/>
          <p:cNvSpPr txBox="1"/>
          <p:nvPr>
            <p:ph type="title"/>
          </p:nvPr>
        </p:nvSpPr>
        <p:spPr>
          <a:xfrm>
            <a:off x="637448" y="640080"/>
            <a:ext cx="5724171" cy="1481329"/>
          </a:xfrm>
          <a:prstGeom prst="rect">
            <a:avLst/>
          </a:prstGeom>
        </p:spPr>
        <p:txBody>
          <a:bodyPr anchor="b"/>
          <a:lstStyle>
            <a:lvl1pPr>
              <a:defRPr sz="5000"/>
            </a:lvl1pPr>
          </a:lstStyle>
          <a:p>
            <a:pPr/>
            <a:r>
              <a:t>General Motivation</a:t>
            </a:r>
          </a:p>
        </p:txBody>
      </p:sp>
      <p:grpSp>
        <p:nvGrpSpPr>
          <p:cNvPr id="105" name="sketch line"/>
          <p:cNvGrpSpPr/>
          <p:nvPr/>
        </p:nvGrpSpPr>
        <p:grpSpPr>
          <a:xfrm>
            <a:off x="643176" y="2357199"/>
            <a:ext cx="3255323" cy="46547"/>
            <a:chOff x="0" y="0"/>
            <a:chExt cx="3255321" cy="46546"/>
          </a:xfrm>
        </p:grpSpPr>
        <p:sp>
          <p:nvSpPr>
            <p:cNvPr id="103" name="Shape"/>
            <p:cNvSpPr/>
            <p:nvPr/>
          </p:nvSpPr>
          <p:spPr>
            <a:xfrm>
              <a:off x="101" y="4767"/>
              <a:ext cx="3255221" cy="395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8" h="13423" fill="norm" stroke="1" extrusionOk="0">
                  <a:moveTo>
                    <a:pt x="0" y="3696"/>
                  </a:moveTo>
                  <a:cubicBezTo>
                    <a:pt x="1937" y="10284"/>
                    <a:pt x="2410" y="6601"/>
                    <a:pt x="4104" y="3696"/>
                  </a:cubicBezTo>
                  <a:cubicBezTo>
                    <a:pt x="5798" y="791"/>
                    <a:pt x="6001" y="-2918"/>
                    <a:pt x="7775" y="3696"/>
                  </a:cubicBezTo>
                  <a:cubicBezTo>
                    <a:pt x="9549" y="10310"/>
                    <a:pt x="11574" y="7016"/>
                    <a:pt x="12527" y="3696"/>
                  </a:cubicBezTo>
                  <a:cubicBezTo>
                    <a:pt x="13479" y="376"/>
                    <a:pt x="15568" y="10898"/>
                    <a:pt x="16630" y="3696"/>
                  </a:cubicBezTo>
                  <a:cubicBezTo>
                    <a:pt x="17692" y="-3506"/>
                    <a:pt x="19840" y="14009"/>
                    <a:pt x="21597" y="3696"/>
                  </a:cubicBezTo>
                  <a:cubicBezTo>
                    <a:pt x="21596" y="5220"/>
                    <a:pt x="21600" y="6908"/>
                    <a:pt x="21597" y="9897"/>
                  </a:cubicBezTo>
                  <a:cubicBezTo>
                    <a:pt x="20706" y="9355"/>
                    <a:pt x="18310" y="18094"/>
                    <a:pt x="17278" y="9897"/>
                  </a:cubicBezTo>
                  <a:cubicBezTo>
                    <a:pt x="16246" y="1700"/>
                    <a:pt x="14493" y="10342"/>
                    <a:pt x="12527" y="9897"/>
                  </a:cubicBezTo>
                  <a:cubicBezTo>
                    <a:pt x="10560" y="9453"/>
                    <a:pt x="10277" y="6026"/>
                    <a:pt x="8855" y="9897"/>
                  </a:cubicBezTo>
                  <a:cubicBezTo>
                    <a:pt x="7433" y="13769"/>
                    <a:pt x="6609" y="6972"/>
                    <a:pt x="4535" y="9897"/>
                  </a:cubicBezTo>
                  <a:cubicBezTo>
                    <a:pt x="2462" y="12822"/>
                    <a:pt x="1318" y="9178"/>
                    <a:pt x="0" y="9897"/>
                  </a:cubicBezTo>
                  <a:cubicBezTo>
                    <a:pt x="6" y="6943"/>
                    <a:pt x="2" y="6036"/>
                    <a:pt x="0" y="3696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04" name="Shape"/>
            <p:cNvSpPr/>
            <p:nvPr/>
          </p:nvSpPr>
          <p:spPr>
            <a:xfrm>
              <a:off x="0" y="0"/>
              <a:ext cx="3255197" cy="465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9" h="14860" fill="norm" stroke="1" extrusionOk="0">
                  <a:moveTo>
                    <a:pt x="0" y="5002"/>
                  </a:moveTo>
                  <a:cubicBezTo>
                    <a:pt x="1594" y="-2061"/>
                    <a:pt x="3066" y="-1263"/>
                    <a:pt x="4104" y="5002"/>
                  </a:cubicBezTo>
                  <a:cubicBezTo>
                    <a:pt x="5142" y="11267"/>
                    <a:pt x="6468" y="5652"/>
                    <a:pt x="8424" y="5002"/>
                  </a:cubicBezTo>
                  <a:cubicBezTo>
                    <a:pt x="10380" y="4352"/>
                    <a:pt x="11503" y="8398"/>
                    <a:pt x="12960" y="5002"/>
                  </a:cubicBezTo>
                  <a:cubicBezTo>
                    <a:pt x="14416" y="1605"/>
                    <a:pt x="16283" y="9477"/>
                    <a:pt x="17495" y="5002"/>
                  </a:cubicBezTo>
                  <a:cubicBezTo>
                    <a:pt x="18707" y="527"/>
                    <a:pt x="20712" y="6725"/>
                    <a:pt x="21599" y="5002"/>
                  </a:cubicBezTo>
                  <a:cubicBezTo>
                    <a:pt x="21594" y="7606"/>
                    <a:pt x="21596" y="8873"/>
                    <a:pt x="21599" y="10840"/>
                  </a:cubicBezTo>
                  <a:cubicBezTo>
                    <a:pt x="20494" y="12409"/>
                    <a:pt x="17833" y="7370"/>
                    <a:pt x="16847" y="10840"/>
                  </a:cubicBezTo>
                  <a:cubicBezTo>
                    <a:pt x="15862" y="14310"/>
                    <a:pt x="14183" y="2142"/>
                    <a:pt x="12096" y="10840"/>
                  </a:cubicBezTo>
                  <a:cubicBezTo>
                    <a:pt x="10009" y="19539"/>
                    <a:pt x="9731" y="11510"/>
                    <a:pt x="7776" y="10840"/>
                  </a:cubicBezTo>
                  <a:cubicBezTo>
                    <a:pt x="5821" y="10171"/>
                    <a:pt x="3723" y="17019"/>
                    <a:pt x="0" y="10840"/>
                  </a:cubicBezTo>
                  <a:cubicBezTo>
                    <a:pt x="0" y="8987"/>
                    <a:pt x="-1" y="7074"/>
                    <a:pt x="0" y="5002"/>
                  </a:cubicBezTo>
                  <a:close/>
                </a:path>
              </a:pathLst>
            </a:custGeom>
            <a:noFill/>
            <a:ln w="38100" cap="rnd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106" name="Content Placeholder 2"/>
          <p:cNvSpPr txBox="1"/>
          <p:nvPr>
            <p:ph type="body" sz="half" idx="1"/>
          </p:nvPr>
        </p:nvSpPr>
        <p:spPr>
          <a:xfrm>
            <a:off x="630935" y="2660904"/>
            <a:ext cx="5450633" cy="391259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72000"/>
              </a:lnSpc>
              <a:defRPr sz="2500"/>
            </a:pPr>
            <a:r>
              <a:t>Creation of this project will provide the necessary framework for a freshmen mentorship program in the CS department </a:t>
            </a:r>
          </a:p>
          <a:p>
            <a:pPr>
              <a:lnSpc>
                <a:spcPct val="72000"/>
              </a:lnSpc>
              <a:defRPr sz="2500"/>
            </a:pPr>
            <a:r>
              <a:t>Facilitate meetings between faculty and freshmen and house mentor/mentee information</a:t>
            </a:r>
          </a:p>
          <a:p>
            <a:pPr>
              <a:lnSpc>
                <a:spcPct val="72000"/>
              </a:lnSpc>
              <a:defRPr sz="2500"/>
            </a:pPr>
            <a:r>
              <a:t>Provide support for freshmen in the department</a:t>
            </a:r>
          </a:p>
          <a:p>
            <a:pPr lvl="1" marL="685800" indent="-228600">
              <a:lnSpc>
                <a:spcPct val="72000"/>
              </a:lnSpc>
              <a:spcBef>
                <a:spcPts val="500"/>
              </a:spcBef>
              <a:buFontTx/>
              <a:buChar char="➢"/>
              <a:defRPr sz="2200"/>
            </a:pPr>
            <a:r>
              <a:t>Professional Development</a:t>
            </a:r>
          </a:p>
          <a:p>
            <a:pPr lvl="1" marL="685800" indent="-228600">
              <a:lnSpc>
                <a:spcPct val="72000"/>
              </a:lnSpc>
              <a:spcBef>
                <a:spcPts val="500"/>
              </a:spcBef>
              <a:buFontTx/>
              <a:buChar char="➢"/>
              <a:defRPr sz="2200"/>
            </a:pPr>
            <a:r>
              <a:t>Academic Development </a:t>
            </a:r>
          </a:p>
          <a:p>
            <a:pPr lvl="1" marL="685800" indent="-228600">
              <a:lnSpc>
                <a:spcPct val="72000"/>
              </a:lnSpc>
              <a:spcBef>
                <a:spcPts val="500"/>
              </a:spcBef>
              <a:buFontTx/>
              <a:buChar char="➢"/>
              <a:defRPr sz="2200"/>
            </a:pPr>
            <a:r>
              <a:t>College Transition</a:t>
            </a:r>
          </a:p>
        </p:txBody>
      </p:sp>
      <p:pic>
        <p:nvPicPr>
          <p:cNvPr id="107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544492" y="428342"/>
            <a:ext cx="5194169" cy="389218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8" name="Content Placeholder 3" descr="Content Placeholder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341342" y="4172885"/>
            <a:ext cx="3775336" cy="252123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ctangle 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" name="Title 1"/>
          <p:cNvSpPr txBox="1"/>
          <p:nvPr>
            <p:ph type="title"/>
          </p:nvPr>
        </p:nvSpPr>
        <p:spPr>
          <a:xfrm>
            <a:off x="637448" y="640080"/>
            <a:ext cx="5724171" cy="1481329"/>
          </a:xfrm>
          <a:prstGeom prst="rect">
            <a:avLst/>
          </a:prstGeom>
        </p:spPr>
        <p:txBody>
          <a:bodyPr anchor="b"/>
          <a:lstStyle>
            <a:lvl1pPr>
              <a:defRPr sz="5000"/>
            </a:lvl1pPr>
          </a:lstStyle>
          <a:p>
            <a:pPr/>
            <a:r>
              <a:t>Users</a:t>
            </a:r>
          </a:p>
        </p:txBody>
      </p:sp>
      <p:grpSp>
        <p:nvGrpSpPr>
          <p:cNvPr id="114" name="sketch line"/>
          <p:cNvGrpSpPr/>
          <p:nvPr/>
        </p:nvGrpSpPr>
        <p:grpSpPr>
          <a:xfrm>
            <a:off x="643176" y="2357199"/>
            <a:ext cx="3255323" cy="46547"/>
            <a:chOff x="0" y="0"/>
            <a:chExt cx="3255321" cy="46546"/>
          </a:xfrm>
        </p:grpSpPr>
        <p:sp>
          <p:nvSpPr>
            <p:cNvPr id="112" name="Shape"/>
            <p:cNvSpPr/>
            <p:nvPr/>
          </p:nvSpPr>
          <p:spPr>
            <a:xfrm>
              <a:off x="101" y="4767"/>
              <a:ext cx="3255221" cy="395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8" h="13423" fill="norm" stroke="1" extrusionOk="0">
                  <a:moveTo>
                    <a:pt x="0" y="3696"/>
                  </a:moveTo>
                  <a:cubicBezTo>
                    <a:pt x="1937" y="10284"/>
                    <a:pt x="2410" y="6601"/>
                    <a:pt x="4104" y="3696"/>
                  </a:cubicBezTo>
                  <a:cubicBezTo>
                    <a:pt x="5798" y="791"/>
                    <a:pt x="6001" y="-2918"/>
                    <a:pt x="7775" y="3696"/>
                  </a:cubicBezTo>
                  <a:cubicBezTo>
                    <a:pt x="9549" y="10310"/>
                    <a:pt x="11574" y="7016"/>
                    <a:pt x="12527" y="3696"/>
                  </a:cubicBezTo>
                  <a:cubicBezTo>
                    <a:pt x="13479" y="376"/>
                    <a:pt x="15568" y="10898"/>
                    <a:pt x="16630" y="3696"/>
                  </a:cubicBezTo>
                  <a:cubicBezTo>
                    <a:pt x="17692" y="-3506"/>
                    <a:pt x="19840" y="14009"/>
                    <a:pt x="21597" y="3696"/>
                  </a:cubicBezTo>
                  <a:cubicBezTo>
                    <a:pt x="21596" y="5220"/>
                    <a:pt x="21600" y="6908"/>
                    <a:pt x="21597" y="9897"/>
                  </a:cubicBezTo>
                  <a:cubicBezTo>
                    <a:pt x="20706" y="9355"/>
                    <a:pt x="18310" y="18094"/>
                    <a:pt x="17278" y="9897"/>
                  </a:cubicBezTo>
                  <a:cubicBezTo>
                    <a:pt x="16246" y="1700"/>
                    <a:pt x="14493" y="10342"/>
                    <a:pt x="12527" y="9897"/>
                  </a:cubicBezTo>
                  <a:cubicBezTo>
                    <a:pt x="10560" y="9453"/>
                    <a:pt x="10277" y="6026"/>
                    <a:pt x="8855" y="9897"/>
                  </a:cubicBezTo>
                  <a:cubicBezTo>
                    <a:pt x="7433" y="13769"/>
                    <a:pt x="6609" y="6972"/>
                    <a:pt x="4535" y="9897"/>
                  </a:cubicBezTo>
                  <a:cubicBezTo>
                    <a:pt x="2462" y="12822"/>
                    <a:pt x="1318" y="9178"/>
                    <a:pt x="0" y="9897"/>
                  </a:cubicBezTo>
                  <a:cubicBezTo>
                    <a:pt x="6" y="6943"/>
                    <a:pt x="2" y="6036"/>
                    <a:pt x="0" y="3696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13" name="Shape"/>
            <p:cNvSpPr/>
            <p:nvPr/>
          </p:nvSpPr>
          <p:spPr>
            <a:xfrm>
              <a:off x="0" y="0"/>
              <a:ext cx="3255197" cy="465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9" h="14860" fill="norm" stroke="1" extrusionOk="0">
                  <a:moveTo>
                    <a:pt x="0" y="5002"/>
                  </a:moveTo>
                  <a:cubicBezTo>
                    <a:pt x="1594" y="-2061"/>
                    <a:pt x="3066" y="-1263"/>
                    <a:pt x="4104" y="5002"/>
                  </a:cubicBezTo>
                  <a:cubicBezTo>
                    <a:pt x="5142" y="11267"/>
                    <a:pt x="6468" y="5652"/>
                    <a:pt x="8424" y="5002"/>
                  </a:cubicBezTo>
                  <a:cubicBezTo>
                    <a:pt x="10380" y="4352"/>
                    <a:pt x="11503" y="8398"/>
                    <a:pt x="12960" y="5002"/>
                  </a:cubicBezTo>
                  <a:cubicBezTo>
                    <a:pt x="14416" y="1605"/>
                    <a:pt x="16283" y="9477"/>
                    <a:pt x="17495" y="5002"/>
                  </a:cubicBezTo>
                  <a:cubicBezTo>
                    <a:pt x="18707" y="527"/>
                    <a:pt x="20712" y="6725"/>
                    <a:pt x="21599" y="5002"/>
                  </a:cubicBezTo>
                  <a:cubicBezTo>
                    <a:pt x="21594" y="7606"/>
                    <a:pt x="21596" y="8873"/>
                    <a:pt x="21599" y="10840"/>
                  </a:cubicBezTo>
                  <a:cubicBezTo>
                    <a:pt x="20494" y="12409"/>
                    <a:pt x="17833" y="7370"/>
                    <a:pt x="16847" y="10840"/>
                  </a:cubicBezTo>
                  <a:cubicBezTo>
                    <a:pt x="15862" y="14310"/>
                    <a:pt x="14183" y="2142"/>
                    <a:pt x="12096" y="10840"/>
                  </a:cubicBezTo>
                  <a:cubicBezTo>
                    <a:pt x="10009" y="19539"/>
                    <a:pt x="9731" y="11510"/>
                    <a:pt x="7776" y="10840"/>
                  </a:cubicBezTo>
                  <a:cubicBezTo>
                    <a:pt x="5821" y="10171"/>
                    <a:pt x="3723" y="17019"/>
                    <a:pt x="0" y="10840"/>
                  </a:cubicBezTo>
                  <a:cubicBezTo>
                    <a:pt x="0" y="8987"/>
                    <a:pt x="-1" y="7074"/>
                    <a:pt x="0" y="5002"/>
                  </a:cubicBezTo>
                  <a:close/>
                </a:path>
              </a:pathLst>
            </a:custGeom>
            <a:noFill/>
            <a:ln w="38100" cap="rnd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115" name="Content Placeholder 2"/>
          <p:cNvSpPr txBox="1"/>
          <p:nvPr>
            <p:ph type="body" sz="half" idx="1"/>
          </p:nvPr>
        </p:nvSpPr>
        <p:spPr>
          <a:xfrm>
            <a:off x="630935" y="2660904"/>
            <a:ext cx="5769761" cy="3912590"/>
          </a:xfrm>
          <a:prstGeom prst="rect">
            <a:avLst/>
          </a:prstGeom>
        </p:spPr>
        <p:txBody>
          <a:bodyPr/>
          <a:lstStyle/>
          <a:p>
            <a:pPr marL="226313" indent="-226313" defTabSz="905255">
              <a:lnSpc>
                <a:spcPct val="81000"/>
              </a:lnSpc>
              <a:spcBef>
                <a:spcPts val="900"/>
              </a:spcBef>
              <a:defRPr sz="3168"/>
            </a:pPr>
            <a:r>
              <a:t>Faculty in the Computer Science Department</a:t>
            </a:r>
          </a:p>
          <a:p>
            <a:pPr lvl="1" marL="678941" indent="-226313" defTabSz="905255">
              <a:lnSpc>
                <a:spcPct val="81000"/>
              </a:lnSpc>
              <a:spcBef>
                <a:spcPts val="400"/>
              </a:spcBef>
              <a:buFontTx/>
              <a:buChar char="➢"/>
              <a:defRPr sz="2376"/>
            </a:pPr>
            <a:r>
              <a:t>Utilize service to access their list of mentees, view form responses and see current meetings/meeting history</a:t>
            </a:r>
          </a:p>
          <a:p>
            <a:pPr marL="226313" indent="-226313" defTabSz="905255">
              <a:lnSpc>
                <a:spcPct val="81000"/>
              </a:lnSpc>
              <a:spcBef>
                <a:spcPts val="900"/>
              </a:spcBef>
              <a:defRPr sz="3168"/>
            </a:pPr>
            <a:r>
              <a:t>Freshmen in the Computer Science Department</a:t>
            </a:r>
          </a:p>
          <a:p>
            <a:pPr lvl="1" marL="678941" indent="-226313" defTabSz="905255">
              <a:lnSpc>
                <a:spcPct val="81000"/>
              </a:lnSpc>
              <a:spcBef>
                <a:spcPts val="400"/>
              </a:spcBef>
              <a:buFontTx/>
              <a:buChar char="➢"/>
              <a:defRPr sz="2376"/>
            </a:pPr>
            <a:r>
              <a:t>Use service to find their mentor, find information about their mentor, and schedule mentor meetings</a:t>
            </a:r>
          </a:p>
        </p:txBody>
      </p:sp>
      <p:pic>
        <p:nvPicPr>
          <p:cNvPr id="116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rcRect l="0" t="0" r="299" b="8488"/>
          <a:stretch>
            <a:fillRect/>
          </a:stretch>
        </p:blipFill>
        <p:spPr>
          <a:xfrm>
            <a:off x="8395110" y="2930899"/>
            <a:ext cx="3406883" cy="3366674"/>
          </a:xfrm>
          <a:prstGeom prst="rect">
            <a:avLst/>
          </a:prstGeom>
          <a:ln w="12700">
            <a:miter lim="400000"/>
          </a:ln>
        </p:spPr>
      </p:pic>
      <p:pic>
        <p:nvPicPr>
          <p:cNvPr id="117" name="Picture 4" descr="Picture 4"/>
          <p:cNvPicPr>
            <a:picLocks noChangeAspect="1"/>
          </p:cNvPicPr>
          <p:nvPr/>
        </p:nvPicPr>
        <p:blipFill>
          <a:blip r:embed="rId3">
            <a:extLst/>
          </a:blip>
          <a:srcRect l="14568" t="13787" r="17626" b="25747"/>
          <a:stretch>
            <a:fillRect/>
          </a:stretch>
        </p:blipFill>
        <p:spPr>
          <a:xfrm>
            <a:off x="6398138" y="1162167"/>
            <a:ext cx="3087868" cy="299099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Rectangle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0" name="Title 1"/>
          <p:cNvSpPr txBox="1"/>
          <p:nvPr>
            <p:ph type="title"/>
          </p:nvPr>
        </p:nvSpPr>
        <p:spPr>
          <a:xfrm>
            <a:off x="630935" y="721041"/>
            <a:ext cx="4818890" cy="1481329"/>
          </a:xfrm>
          <a:prstGeom prst="rect">
            <a:avLst/>
          </a:prstGeom>
        </p:spPr>
        <p:txBody>
          <a:bodyPr anchor="b"/>
          <a:lstStyle>
            <a:lvl1pPr>
              <a:defRPr sz="5400"/>
            </a:lvl1pPr>
          </a:lstStyle>
          <a:p>
            <a:pPr/>
            <a:r>
              <a:t>Core Features</a:t>
            </a:r>
          </a:p>
        </p:txBody>
      </p:sp>
      <p:grpSp>
        <p:nvGrpSpPr>
          <p:cNvPr id="123" name="sketch line"/>
          <p:cNvGrpSpPr/>
          <p:nvPr/>
        </p:nvGrpSpPr>
        <p:grpSpPr>
          <a:xfrm>
            <a:off x="643176" y="2357199"/>
            <a:ext cx="3255323" cy="46547"/>
            <a:chOff x="0" y="0"/>
            <a:chExt cx="3255321" cy="46546"/>
          </a:xfrm>
        </p:grpSpPr>
        <p:sp>
          <p:nvSpPr>
            <p:cNvPr id="121" name="Shape"/>
            <p:cNvSpPr/>
            <p:nvPr/>
          </p:nvSpPr>
          <p:spPr>
            <a:xfrm>
              <a:off x="101" y="4767"/>
              <a:ext cx="3255221" cy="395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8" h="13423" fill="norm" stroke="1" extrusionOk="0">
                  <a:moveTo>
                    <a:pt x="0" y="3696"/>
                  </a:moveTo>
                  <a:cubicBezTo>
                    <a:pt x="1937" y="10284"/>
                    <a:pt x="2410" y="6601"/>
                    <a:pt x="4104" y="3696"/>
                  </a:cubicBezTo>
                  <a:cubicBezTo>
                    <a:pt x="5798" y="791"/>
                    <a:pt x="6001" y="-2918"/>
                    <a:pt x="7775" y="3696"/>
                  </a:cubicBezTo>
                  <a:cubicBezTo>
                    <a:pt x="9549" y="10310"/>
                    <a:pt x="11574" y="7016"/>
                    <a:pt x="12527" y="3696"/>
                  </a:cubicBezTo>
                  <a:cubicBezTo>
                    <a:pt x="13479" y="376"/>
                    <a:pt x="15568" y="10898"/>
                    <a:pt x="16630" y="3696"/>
                  </a:cubicBezTo>
                  <a:cubicBezTo>
                    <a:pt x="17692" y="-3506"/>
                    <a:pt x="19840" y="14009"/>
                    <a:pt x="21597" y="3696"/>
                  </a:cubicBezTo>
                  <a:cubicBezTo>
                    <a:pt x="21596" y="5220"/>
                    <a:pt x="21600" y="6908"/>
                    <a:pt x="21597" y="9897"/>
                  </a:cubicBezTo>
                  <a:cubicBezTo>
                    <a:pt x="20706" y="9355"/>
                    <a:pt x="18310" y="18094"/>
                    <a:pt x="17278" y="9897"/>
                  </a:cubicBezTo>
                  <a:cubicBezTo>
                    <a:pt x="16246" y="1700"/>
                    <a:pt x="14493" y="10342"/>
                    <a:pt x="12527" y="9897"/>
                  </a:cubicBezTo>
                  <a:cubicBezTo>
                    <a:pt x="10560" y="9453"/>
                    <a:pt x="10277" y="6026"/>
                    <a:pt x="8855" y="9897"/>
                  </a:cubicBezTo>
                  <a:cubicBezTo>
                    <a:pt x="7433" y="13769"/>
                    <a:pt x="6609" y="6972"/>
                    <a:pt x="4535" y="9897"/>
                  </a:cubicBezTo>
                  <a:cubicBezTo>
                    <a:pt x="2462" y="12822"/>
                    <a:pt x="1318" y="9178"/>
                    <a:pt x="0" y="9897"/>
                  </a:cubicBezTo>
                  <a:cubicBezTo>
                    <a:pt x="6" y="6943"/>
                    <a:pt x="2" y="6036"/>
                    <a:pt x="0" y="3696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22" name="Shape"/>
            <p:cNvSpPr/>
            <p:nvPr/>
          </p:nvSpPr>
          <p:spPr>
            <a:xfrm>
              <a:off x="0" y="0"/>
              <a:ext cx="3255197" cy="465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9" h="14860" fill="norm" stroke="1" extrusionOk="0">
                  <a:moveTo>
                    <a:pt x="0" y="5002"/>
                  </a:moveTo>
                  <a:cubicBezTo>
                    <a:pt x="1594" y="-2061"/>
                    <a:pt x="3066" y="-1263"/>
                    <a:pt x="4104" y="5002"/>
                  </a:cubicBezTo>
                  <a:cubicBezTo>
                    <a:pt x="5142" y="11267"/>
                    <a:pt x="6468" y="5652"/>
                    <a:pt x="8424" y="5002"/>
                  </a:cubicBezTo>
                  <a:cubicBezTo>
                    <a:pt x="10380" y="4352"/>
                    <a:pt x="11503" y="8398"/>
                    <a:pt x="12960" y="5002"/>
                  </a:cubicBezTo>
                  <a:cubicBezTo>
                    <a:pt x="14416" y="1605"/>
                    <a:pt x="16283" y="9477"/>
                    <a:pt x="17495" y="5002"/>
                  </a:cubicBezTo>
                  <a:cubicBezTo>
                    <a:pt x="18707" y="527"/>
                    <a:pt x="20712" y="6725"/>
                    <a:pt x="21599" y="5002"/>
                  </a:cubicBezTo>
                  <a:cubicBezTo>
                    <a:pt x="21594" y="7606"/>
                    <a:pt x="21596" y="8873"/>
                    <a:pt x="21599" y="10840"/>
                  </a:cubicBezTo>
                  <a:cubicBezTo>
                    <a:pt x="20494" y="12409"/>
                    <a:pt x="17833" y="7370"/>
                    <a:pt x="16847" y="10840"/>
                  </a:cubicBezTo>
                  <a:cubicBezTo>
                    <a:pt x="15862" y="14310"/>
                    <a:pt x="14183" y="2142"/>
                    <a:pt x="12096" y="10840"/>
                  </a:cubicBezTo>
                  <a:cubicBezTo>
                    <a:pt x="10009" y="19539"/>
                    <a:pt x="9731" y="11510"/>
                    <a:pt x="7776" y="10840"/>
                  </a:cubicBezTo>
                  <a:cubicBezTo>
                    <a:pt x="5821" y="10171"/>
                    <a:pt x="3723" y="17019"/>
                    <a:pt x="0" y="10840"/>
                  </a:cubicBezTo>
                  <a:cubicBezTo>
                    <a:pt x="0" y="8987"/>
                    <a:pt x="-1" y="7074"/>
                    <a:pt x="0" y="5002"/>
                  </a:cubicBezTo>
                  <a:close/>
                </a:path>
              </a:pathLst>
            </a:custGeom>
            <a:noFill/>
            <a:ln w="38100" cap="rnd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124" name="Content Placeholder 2"/>
          <p:cNvSpPr txBox="1"/>
          <p:nvPr>
            <p:ph type="body" sz="half" idx="1"/>
          </p:nvPr>
        </p:nvSpPr>
        <p:spPr>
          <a:xfrm>
            <a:off x="635698" y="2489454"/>
            <a:ext cx="6647689" cy="4162235"/>
          </a:xfrm>
          <a:prstGeom prst="rect">
            <a:avLst/>
          </a:prstGeom>
        </p:spPr>
        <p:txBody>
          <a:bodyPr/>
          <a:lstStyle/>
          <a:p>
            <a:pPr marL="457200" indent="-457200">
              <a:defRPr b="1" sz="2100"/>
            </a:pPr>
            <a:r>
              <a:t> </a:t>
            </a:r>
            <a:r>
              <a:rPr b="0" sz="2200"/>
              <a:t>Login System</a:t>
            </a:r>
            <a:endParaRPr b="0" sz="2200"/>
          </a:p>
          <a:p>
            <a:pPr lvl="1" marL="914400" indent="-457200">
              <a:spcBef>
                <a:spcPts val="500"/>
              </a:spcBef>
              <a:buFontTx/>
              <a:buChar char="➢"/>
              <a:defRPr sz="2200"/>
            </a:pPr>
            <a:r>
              <a:t>Login for mentors and students</a:t>
            </a:r>
            <a:endParaRPr sz="2400"/>
          </a:p>
          <a:p>
            <a:pPr lvl="1" marL="914400" indent="-457200">
              <a:spcBef>
                <a:spcPts val="500"/>
              </a:spcBef>
              <a:buFontTx/>
              <a:buChar char="➢"/>
              <a:defRPr sz="2200"/>
            </a:pPr>
            <a:r>
              <a:t>Secure authentication for user data protection</a:t>
            </a:r>
            <a:endParaRPr sz="2400"/>
          </a:p>
          <a:p>
            <a:pPr lvl="1" marL="800100" indent="-342900">
              <a:spcBef>
                <a:spcPts val="500"/>
              </a:spcBef>
              <a:buFontTx/>
              <a:buChar char="➢"/>
              <a:defRPr sz="2200"/>
            </a:pPr>
          </a:p>
          <a:p>
            <a:pPr marL="457200" indent="-457200">
              <a:defRPr sz="2200"/>
            </a:pPr>
            <a:r>
              <a:t> Interest-Based Mentor-Mentee Matching</a:t>
            </a:r>
          </a:p>
          <a:p>
            <a:pPr lvl="1" marL="800100" indent="-342900">
              <a:spcBef>
                <a:spcPts val="500"/>
              </a:spcBef>
              <a:buFontTx/>
              <a:buChar char="➢"/>
              <a:defRPr sz="2200"/>
            </a:pPr>
            <a:r>
              <a:t>Students looking for a mentor fill out an interest form</a:t>
            </a:r>
            <a:endParaRPr sz="2400"/>
          </a:p>
          <a:p>
            <a:pPr lvl="1" marL="800100" indent="-342900">
              <a:spcBef>
                <a:spcPts val="500"/>
              </a:spcBef>
              <a:buFontTx/>
              <a:buChar char="➢"/>
              <a:defRPr sz="2200"/>
            </a:pPr>
            <a:r>
              <a:t>Automated algorithm that matches students with mentors based on availability and subject expertise</a:t>
            </a:r>
          </a:p>
        </p:txBody>
      </p:sp>
      <p:pic>
        <p:nvPicPr>
          <p:cNvPr id="125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547930" y="1460858"/>
            <a:ext cx="4185419" cy="25702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26" name="Picture 4" descr="Picture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570492" y="4572348"/>
            <a:ext cx="4163509" cy="174998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Content Placeholder 2"/>
          <p:cNvSpPr txBox="1"/>
          <p:nvPr>
            <p:ph type="body" idx="1"/>
          </p:nvPr>
        </p:nvSpPr>
        <p:spPr>
          <a:xfrm>
            <a:off x="838200" y="439737"/>
            <a:ext cx="7015163" cy="5737226"/>
          </a:xfrm>
          <a:prstGeom prst="rect">
            <a:avLst/>
          </a:prstGeom>
        </p:spPr>
        <p:txBody>
          <a:bodyPr/>
          <a:lstStyle/>
          <a:p>
            <a:pPr lvl="1" marL="800100" indent="-342900">
              <a:spcBef>
                <a:spcPts val="500"/>
              </a:spcBef>
              <a:buFontTx/>
              <a:buChar char="➢"/>
              <a:defRPr sz="2400"/>
            </a:pPr>
          </a:p>
          <a:p>
            <a:pPr lvl="1" marL="800100" indent="-342900">
              <a:spcBef>
                <a:spcPts val="500"/>
              </a:spcBef>
              <a:buFont typeface="Helvetica"/>
              <a:buChar char="Ø"/>
              <a:defRPr sz="2200"/>
            </a:pPr>
          </a:p>
          <a:p>
            <a:pPr marL="457200" indent="-457200">
              <a:defRPr sz="2200"/>
            </a:pPr>
            <a:r>
              <a:t>Email notifications</a:t>
            </a:r>
          </a:p>
          <a:p>
            <a:pPr lvl="1" marL="800100" indent="-342900">
              <a:spcBef>
                <a:spcPts val="500"/>
              </a:spcBef>
              <a:buFont typeface="Helvetica"/>
              <a:buChar char="Ø"/>
              <a:defRPr sz="2200"/>
            </a:pPr>
            <a:r>
              <a:t>Inform mentors about new mentees</a:t>
            </a:r>
            <a:endParaRPr sz="2400"/>
          </a:p>
          <a:p>
            <a:pPr lvl="1" marL="800100" indent="-342900">
              <a:spcBef>
                <a:spcPts val="500"/>
              </a:spcBef>
              <a:buFont typeface="Helvetica"/>
              <a:buChar char="Ø"/>
              <a:defRPr sz="2200"/>
            </a:pPr>
            <a:r>
              <a:t>Notify students about their assigned mentors</a:t>
            </a:r>
            <a:endParaRPr sz="2400"/>
          </a:p>
          <a:p>
            <a:pPr lvl="1" marL="0" indent="457200">
              <a:spcBef>
                <a:spcPts val="500"/>
              </a:spcBef>
              <a:buSzTx/>
              <a:buNone/>
              <a:defRPr sz="2200"/>
            </a:pPr>
          </a:p>
          <a:p>
            <a:pPr marL="457200" indent="-457200">
              <a:defRPr sz="2200"/>
            </a:pPr>
            <a:r>
              <a:t>Meeting Scheduling</a:t>
            </a:r>
          </a:p>
          <a:p>
            <a:pPr lvl="1" marL="971550" indent="-285750">
              <a:spcBef>
                <a:spcPts val="500"/>
              </a:spcBef>
              <a:buFontTx/>
              <a:buChar char="➢"/>
              <a:defRPr sz="2200"/>
            </a:pPr>
            <a:r>
              <a:t>Integrated calendar for students to book time slots with mentors</a:t>
            </a:r>
            <a:endParaRPr sz="2400"/>
          </a:p>
          <a:p>
            <a:pPr lvl="1" marL="971550" indent="-285750">
              <a:spcBef>
                <a:spcPts val="500"/>
              </a:spcBef>
              <a:buFontTx/>
              <a:buChar char="➢"/>
              <a:defRPr sz="2200"/>
            </a:pPr>
          </a:p>
          <a:p>
            <a:pPr marL="342900" indent="-457200">
              <a:defRPr sz="2200"/>
            </a:pPr>
            <a:r>
              <a:t>Data Management</a:t>
            </a:r>
          </a:p>
          <a:p>
            <a:pPr lvl="1" marL="971550" indent="-285750">
              <a:spcBef>
                <a:spcPts val="500"/>
              </a:spcBef>
              <a:buFontTx/>
              <a:buChar char="➢"/>
              <a:defRPr sz="2200"/>
            </a:pPr>
            <a:r>
              <a:t>Centralized database to store mentor-mentee assignments, student profiles, mentor availability, meeting history and more</a:t>
            </a:r>
          </a:p>
        </p:txBody>
      </p:sp>
      <p:pic>
        <p:nvPicPr>
          <p:cNvPr id="129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590103" y="1550934"/>
            <a:ext cx="1953707" cy="998445"/>
          </a:xfrm>
          <a:prstGeom prst="rect">
            <a:avLst/>
          </a:prstGeom>
          <a:ln w="12700">
            <a:miter lim="400000"/>
          </a:ln>
        </p:spPr>
      </p:pic>
      <p:pic>
        <p:nvPicPr>
          <p:cNvPr id="130" name="Picture 4" descr="Picture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602070" y="3040075"/>
            <a:ext cx="4281489" cy="2238377"/>
          </a:xfrm>
          <a:prstGeom prst="rect">
            <a:avLst/>
          </a:prstGeom>
          <a:ln w="12700">
            <a:miter lim="400000"/>
          </a:ln>
        </p:spPr>
      </p:pic>
      <p:pic>
        <p:nvPicPr>
          <p:cNvPr id="131" name="Picture 6" descr="Picture 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9771688" y="1546252"/>
            <a:ext cx="2108948" cy="99084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Rectangle 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4" name="Title 1"/>
          <p:cNvSpPr txBox="1"/>
          <p:nvPr>
            <p:ph type="title"/>
          </p:nvPr>
        </p:nvSpPr>
        <p:spPr>
          <a:xfrm>
            <a:off x="630935" y="640080"/>
            <a:ext cx="4818890" cy="1481329"/>
          </a:xfrm>
          <a:prstGeom prst="rect">
            <a:avLst/>
          </a:prstGeom>
        </p:spPr>
        <p:txBody>
          <a:bodyPr anchor="b"/>
          <a:lstStyle>
            <a:lvl1pPr defTabSz="905255">
              <a:defRPr sz="4950"/>
            </a:lvl1pPr>
          </a:lstStyle>
          <a:p>
            <a:pPr/>
            <a:r>
              <a:t>Technical Details</a:t>
            </a:r>
          </a:p>
        </p:txBody>
      </p:sp>
      <p:grpSp>
        <p:nvGrpSpPr>
          <p:cNvPr id="137" name="sketch line"/>
          <p:cNvGrpSpPr/>
          <p:nvPr/>
        </p:nvGrpSpPr>
        <p:grpSpPr>
          <a:xfrm>
            <a:off x="643176" y="2357199"/>
            <a:ext cx="3255323" cy="46547"/>
            <a:chOff x="0" y="0"/>
            <a:chExt cx="3255321" cy="46546"/>
          </a:xfrm>
        </p:grpSpPr>
        <p:sp>
          <p:nvSpPr>
            <p:cNvPr id="135" name="Shape"/>
            <p:cNvSpPr/>
            <p:nvPr/>
          </p:nvSpPr>
          <p:spPr>
            <a:xfrm>
              <a:off x="101" y="4767"/>
              <a:ext cx="3255221" cy="395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8" h="13423" fill="norm" stroke="1" extrusionOk="0">
                  <a:moveTo>
                    <a:pt x="0" y="3696"/>
                  </a:moveTo>
                  <a:cubicBezTo>
                    <a:pt x="1937" y="10284"/>
                    <a:pt x="2410" y="6601"/>
                    <a:pt x="4104" y="3696"/>
                  </a:cubicBezTo>
                  <a:cubicBezTo>
                    <a:pt x="5798" y="791"/>
                    <a:pt x="6001" y="-2918"/>
                    <a:pt x="7775" y="3696"/>
                  </a:cubicBezTo>
                  <a:cubicBezTo>
                    <a:pt x="9549" y="10310"/>
                    <a:pt x="11574" y="7016"/>
                    <a:pt x="12527" y="3696"/>
                  </a:cubicBezTo>
                  <a:cubicBezTo>
                    <a:pt x="13479" y="376"/>
                    <a:pt x="15568" y="10898"/>
                    <a:pt x="16630" y="3696"/>
                  </a:cubicBezTo>
                  <a:cubicBezTo>
                    <a:pt x="17692" y="-3506"/>
                    <a:pt x="19840" y="14009"/>
                    <a:pt x="21597" y="3696"/>
                  </a:cubicBezTo>
                  <a:cubicBezTo>
                    <a:pt x="21596" y="5220"/>
                    <a:pt x="21600" y="6908"/>
                    <a:pt x="21597" y="9897"/>
                  </a:cubicBezTo>
                  <a:cubicBezTo>
                    <a:pt x="20706" y="9355"/>
                    <a:pt x="18310" y="18094"/>
                    <a:pt x="17278" y="9897"/>
                  </a:cubicBezTo>
                  <a:cubicBezTo>
                    <a:pt x="16246" y="1700"/>
                    <a:pt x="14493" y="10342"/>
                    <a:pt x="12527" y="9897"/>
                  </a:cubicBezTo>
                  <a:cubicBezTo>
                    <a:pt x="10560" y="9453"/>
                    <a:pt x="10277" y="6026"/>
                    <a:pt x="8855" y="9897"/>
                  </a:cubicBezTo>
                  <a:cubicBezTo>
                    <a:pt x="7433" y="13769"/>
                    <a:pt x="6609" y="6972"/>
                    <a:pt x="4535" y="9897"/>
                  </a:cubicBezTo>
                  <a:cubicBezTo>
                    <a:pt x="2462" y="12822"/>
                    <a:pt x="1318" y="9178"/>
                    <a:pt x="0" y="9897"/>
                  </a:cubicBezTo>
                  <a:cubicBezTo>
                    <a:pt x="6" y="6943"/>
                    <a:pt x="2" y="6036"/>
                    <a:pt x="0" y="3696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36" name="Shape"/>
            <p:cNvSpPr/>
            <p:nvPr/>
          </p:nvSpPr>
          <p:spPr>
            <a:xfrm>
              <a:off x="0" y="0"/>
              <a:ext cx="3255197" cy="4654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9" h="14860" fill="norm" stroke="1" extrusionOk="0">
                  <a:moveTo>
                    <a:pt x="0" y="5002"/>
                  </a:moveTo>
                  <a:cubicBezTo>
                    <a:pt x="1594" y="-2061"/>
                    <a:pt x="3066" y="-1263"/>
                    <a:pt x="4104" y="5002"/>
                  </a:cubicBezTo>
                  <a:cubicBezTo>
                    <a:pt x="5142" y="11267"/>
                    <a:pt x="6468" y="5652"/>
                    <a:pt x="8424" y="5002"/>
                  </a:cubicBezTo>
                  <a:cubicBezTo>
                    <a:pt x="10380" y="4352"/>
                    <a:pt x="11503" y="8398"/>
                    <a:pt x="12960" y="5002"/>
                  </a:cubicBezTo>
                  <a:cubicBezTo>
                    <a:pt x="14416" y="1605"/>
                    <a:pt x="16283" y="9477"/>
                    <a:pt x="17495" y="5002"/>
                  </a:cubicBezTo>
                  <a:cubicBezTo>
                    <a:pt x="18707" y="527"/>
                    <a:pt x="20712" y="6725"/>
                    <a:pt x="21599" y="5002"/>
                  </a:cubicBezTo>
                  <a:cubicBezTo>
                    <a:pt x="21594" y="7606"/>
                    <a:pt x="21596" y="8873"/>
                    <a:pt x="21599" y="10840"/>
                  </a:cubicBezTo>
                  <a:cubicBezTo>
                    <a:pt x="20494" y="12409"/>
                    <a:pt x="17833" y="7370"/>
                    <a:pt x="16847" y="10840"/>
                  </a:cubicBezTo>
                  <a:cubicBezTo>
                    <a:pt x="15862" y="14310"/>
                    <a:pt x="14183" y="2142"/>
                    <a:pt x="12096" y="10840"/>
                  </a:cubicBezTo>
                  <a:cubicBezTo>
                    <a:pt x="10009" y="19539"/>
                    <a:pt x="9731" y="11510"/>
                    <a:pt x="7776" y="10840"/>
                  </a:cubicBezTo>
                  <a:cubicBezTo>
                    <a:pt x="5821" y="10171"/>
                    <a:pt x="3723" y="17019"/>
                    <a:pt x="0" y="10840"/>
                  </a:cubicBezTo>
                  <a:cubicBezTo>
                    <a:pt x="0" y="8987"/>
                    <a:pt x="-1" y="7074"/>
                    <a:pt x="0" y="5002"/>
                  </a:cubicBezTo>
                  <a:close/>
                </a:path>
              </a:pathLst>
            </a:custGeom>
            <a:noFill/>
            <a:ln w="38100" cap="rnd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138" name="Content Placeholder 2"/>
          <p:cNvSpPr txBox="1"/>
          <p:nvPr>
            <p:ph type="body" sz="half" idx="1"/>
          </p:nvPr>
        </p:nvSpPr>
        <p:spPr>
          <a:xfrm>
            <a:off x="630935" y="2660904"/>
            <a:ext cx="4818890" cy="3547872"/>
          </a:xfrm>
          <a:prstGeom prst="rect">
            <a:avLst/>
          </a:prstGeom>
        </p:spPr>
        <p:txBody>
          <a:bodyPr/>
          <a:lstStyle/>
          <a:p>
            <a:pPr>
              <a:defRPr sz="2200"/>
            </a:pPr>
            <a:r>
              <a:t>Format</a:t>
            </a:r>
          </a:p>
          <a:p>
            <a:pPr lvl="1" marL="685800" indent="-228600">
              <a:spcBef>
                <a:spcPts val="500"/>
              </a:spcBef>
              <a:defRPr sz="2200"/>
            </a:pPr>
            <a:r>
              <a:t>Frontend/Backend/Database</a:t>
            </a:r>
            <a:endParaRPr sz="2400"/>
          </a:p>
          <a:p>
            <a:pPr>
              <a:defRPr sz="2200"/>
            </a:pPr>
            <a:r>
              <a:t>Technologies</a:t>
            </a:r>
          </a:p>
          <a:p>
            <a:pPr lvl="1" marL="685800" indent="-228600">
              <a:spcBef>
                <a:spcPts val="500"/>
              </a:spcBef>
              <a:defRPr sz="2200"/>
            </a:pPr>
            <a:r>
              <a:t>Database API</a:t>
            </a:r>
            <a:endParaRPr sz="2400"/>
          </a:p>
          <a:p>
            <a:pPr lvl="1" marL="685800" indent="-228600">
              <a:spcBef>
                <a:spcPts val="500"/>
              </a:spcBef>
              <a:defRPr sz="2200"/>
            </a:pPr>
            <a:r>
              <a:t>Matching Algorithm</a:t>
            </a:r>
            <a:endParaRPr sz="2400"/>
          </a:p>
          <a:p>
            <a:pPr lvl="1" marL="685800" indent="-228600">
              <a:spcBef>
                <a:spcPts val="500"/>
              </a:spcBef>
              <a:defRPr sz="2200"/>
            </a:pPr>
            <a:r>
              <a:t>Hosting Server</a:t>
            </a:r>
          </a:p>
        </p:txBody>
      </p:sp>
      <p:pic>
        <p:nvPicPr>
          <p:cNvPr id="139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rcRect l="0" t="27842" r="0" b="813"/>
          <a:stretch>
            <a:fillRect/>
          </a:stretch>
        </p:blipFill>
        <p:spPr>
          <a:xfrm>
            <a:off x="6099047" y="2338482"/>
            <a:ext cx="5458969" cy="218103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Rectangle 1030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2" name="Title 1"/>
          <p:cNvSpPr txBox="1"/>
          <p:nvPr>
            <p:ph type="title"/>
          </p:nvPr>
        </p:nvSpPr>
        <p:spPr>
          <a:xfrm>
            <a:off x="640079" y="329184"/>
            <a:ext cx="6894578" cy="1783079"/>
          </a:xfrm>
          <a:prstGeom prst="rect">
            <a:avLst/>
          </a:prstGeom>
        </p:spPr>
        <p:txBody>
          <a:bodyPr anchor="b"/>
          <a:lstStyle>
            <a:lvl1pPr>
              <a:defRPr sz="5400"/>
            </a:lvl1pPr>
          </a:lstStyle>
          <a:p>
            <a:pPr/>
            <a:r>
              <a:t>Environment</a:t>
            </a:r>
          </a:p>
        </p:txBody>
      </p:sp>
      <p:grpSp>
        <p:nvGrpSpPr>
          <p:cNvPr id="145" name="sketch line"/>
          <p:cNvGrpSpPr/>
          <p:nvPr/>
        </p:nvGrpSpPr>
        <p:grpSpPr>
          <a:xfrm>
            <a:off x="758846" y="2375351"/>
            <a:ext cx="4243996" cy="55234"/>
            <a:chOff x="0" y="0"/>
            <a:chExt cx="4243995" cy="55232"/>
          </a:xfrm>
        </p:grpSpPr>
        <p:sp>
          <p:nvSpPr>
            <p:cNvPr id="143" name="Shape"/>
            <p:cNvSpPr/>
            <p:nvPr/>
          </p:nvSpPr>
          <p:spPr>
            <a:xfrm>
              <a:off x="0" y="6523"/>
              <a:ext cx="4243695" cy="487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8" h="14183" fill="norm" stroke="1" extrusionOk="0">
                  <a:moveTo>
                    <a:pt x="0" y="4034"/>
                  </a:moveTo>
                  <a:cubicBezTo>
                    <a:pt x="732" y="8876"/>
                    <a:pt x="1358" y="8357"/>
                    <a:pt x="2654" y="4034"/>
                  </a:cubicBezTo>
                  <a:cubicBezTo>
                    <a:pt x="3950" y="-289"/>
                    <a:pt x="4146" y="-1022"/>
                    <a:pt x="5091" y="4034"/>
                  </a:cubicBezTo>
                  <a:cubicBezTo>
                    <a:pt x="6037" y="9089"/>
                    <a:pt x="6884" y="-2811"/>
                    <a:pt x="7745" y="4034"/>
                  </a:cubicBezTo>
                  <a:cubicBezTo>
                    <a:pt x="8605" y="10878"/>
                    <a:pt x="9617" y="5743"/>
                    <a:pt x="10830" y="4034"/>
                  </a:cubicBezTo>
                  <a:cubicBezTo>
                    <a:pt x="12043" y="2324"/>
                    <a:pt x="13338" y="-4118"/>
                    <a:pt x="14131" y="4034"/>
                  </a:cubicBezTo>
                  <a:cubicBezTo>
                    <a:pt x="14925" y="12186"/>
                    <a:pt x="15939" y="-3267"/>
                    <a:pt x="17649" y="4034"/>
                  </a:cubicBezTo>
                  <a:cubicBezTo>
                    <a:pt x="19358" y="11334"/>
                    <a:pt x="20447" y="4928"/>
                    <a:pt x="21598" y="4034"/>
                  </a:cubicBezTo>
                  <a:cubicBezTo>
                    <a:pt x="21596" y="5828"/>
                    <a:pt x="21598" y="7462"/>
                    <a:pt x="21598" y="9359"/>
                  </a:cubicBezTo>
                  <a:cubicBezTo>
                    <a:pt x="20449" y="2351"/>
                    <a:pt x="19516" y="7928"/>
                    <a:pt x="18297" y="9359"/>
                  </a:cubicBezTo>
                  <a:cubicBezTo>
                    <a:pt x="17077" y="10789"/>
                    <a:pt x="16308" y="4869"/>
                    <a:pt x="14779" y="9359"/>
                  </a:cubicBezTo>
                  <a:cubicBezTo>
                    <a:pt x="13251" y="13848"/>
                    <a:pt x="12857" y="17482"/>
                    <a:pt x="11262" y="9359"/>
                  </a:cubicBezTo>
                  <a:cubicBezTo>
                    <a:pt x="9667" y="1235"/>
                    <a:pt x="10008" y="12679"/>
                    <a:pt x="8825" y="9359"/>
                  </a:cubicBezTo>
                  <a:cubicBezTo>
                    <a:pt x="7641" y="6038"/>
                    <a:pt x="6839" y="7671"/>
                    <a:pt x="5523" y="9359"/>
                  </a:cubicBezTo>
                  <a:cubicBezTo>
                    <a:pt x="4208" y="11046"/>
                    <a:pt x="3961" y="14401"/>
                    <a:pt x="2654" y="9359"/>
                  </a:cubicBezTo>
                  <a:cubicBezTo>
                    <a:pt x="1347" y="4316"/>
                    <a:pt x="612" y="5277"/>
                    <a:pt x="0" y="9359"/>
                  </a:cubicBezTo>
                  <a:cubicBezTo>
                    <a:pt x="4" y="7178"/>
                    <a:pt x="-2" y="6416"/>
                    <a:pt x="0" y="4034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44" name="Shape"/>
            <p:cNvSpPr/>
            <p:nvPr/>
          </p:nvSpPr>
          <p:spPr>
            <a:xfrm>
              <a:off x="60" y="0"/>
              <a:ext cx="4243936" cy="462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6" h="14334" fill="norm" stroke="1" extrusionOk="0">
                  <a:moveTo>
                    <a:pt x="0" y="6315"/>
                  </a:moveTo>
                  <a:cubicBezTo>
                    <a:pt x="1086" y="-195"/>
                    <a:pt x="1565" y="700"/>
                    <a:pt x="2437" y="6315"/>
                  </a:cubicBezTo>
                  <a:cubicBezTo>
                    <a:pt x="3310" y="11930"/>
                    <a:pt x="4229" y="-267"/>
                    <a:pt x="4874" y="6315"/>
                  </a:cubicBezTo>
                  <a:cubicBezTo>
                    <a:pt x="5519" y="12897"/>
                    <a:pt x="6624" y="14102"/>
                    <a:pt x="7743" y="6315"/>
                  </a:cubicBezTo>
                  <a:cubicBezTo>
                    <a:pt x="8863" y="-1472"/>
                    <a:pt x="10026" y="-2716"/>
                    <a:pt x="11260" y="6315"/>
                  </a:cubicBezTo>
                  <a:cubicBezTo>
                    <a:pt x="12494" y="15346"/>
                    <a:pt x="13021" y="4829"/>
                    <a:pt x="13913" y="6315"/>
                  </a:cubicBezTo>
                  <a:cubicBezTo>
                    <a:pt x="14805" y="7802"/>
                    <a:pt x="15761" y="2159"/>
                    <a:pt x="16566" y="6315"/>
                  </a:cubicBezTo>
                  <a:cubicBezTo>
                    <a:pt x="17371" y="10471"/>
                    <a:pt x="20253" y="3178"/>
                    <a:pt x="21594" y="6315"/>
                  </a:cubicBezTo>
                  <a:cubicBezTo>
                    <a:pt x="21599" y="9097"/>
                    <a:pt x="21592" y="9216"/>
                    <a:pt x="21594" y="11983"/>
                  </a:cubicBezTo>
                  <a:cubicBezTo>
                    <a:pt x="20654" y="15999"/>
                    <a:pt x="19899" y="7294"/>
                    <a:pt x="18294" y="11983"/>
                  </a:cubicBezTo>
                  <a:cubicBezTo>
                    <a:pt x="16689" y="16673"/>
                    <a:pt x="16894" y="5083"/>
                    <a:pt x="15641" y="11983"/>
                  </a:cubicBezTo>
                  <a:cubicBezTo>
                    <a:pt x="14387" y="18884"/>
                    <a:pt x="14083" y="6893"/>
                    <a:pt x="12988" y="11983"/>
                  </a:cubicBezTo>
                  <a:cubicBezTo>
                    <a:pt x="11893" y="17074"/>
                    <a:pt x="11103" y="12367"/>
                    <a:pt x="9687" y="11983"/>
                  </a:cubicBezTo>
                  <a:cubicBezTo>
                    <a:pt x="8270" y="11599"/>
                    <a:pt x="7927" y="13808"/>
                    <a:pt x="6170" y="11983"/>
                  </a:cubicBezTo>
                  <a:cubicBezTo>
                    <a:pt x="4413" y="10159"/>
                    <a:pt x="4450" y="11159"/>
                    <a:pt x="3733" y="11983"/>
                  </a:cubicBezTo>
                  <a:cubicBezTo>
                    <a:pt x="3016" y="12808"/>
                    <a:pt x="934" y="10888"/>
                    <a:pt x="0" y="11983"/>
                  </a:cubicBezTo>
                  <a:cubicBezTo>
                    <a:pt x="-1" y="10723"/>
                    <a:pt x="3" y="8118"/>
                    <a:pt x="0" y="6315"/>
                  </a:cubicBezTo>
                  <a:close/>
                </a:path>
              </a:pathLst>
            </a:custGeom>
            <a:noFill/>
            <a:ln w="41275" cap="rnd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146" name="Content Placeholder 2"/>
          <p:cNvSpPr txBox="1"/>
          <p:nvPr>
            <p:ph type="body" sz="half" idx="1"/>
          </p:nvPr>
        </p:nvSpPr>
        <p:spPr>
          <a:xfrm>
            <a:off x="640079" y="2706623"/>
            <a:ext cx="6894578" cy="3483865"/>
          </a:xfrm>
          <a:prstGeom prst="rect">
            <a:avLst/>
          </a:prstGeom>
        </p:spPr>
        <p:txBody>
          <a:bodyPr/>
          <a:lstStyle/>
          <a:p>
            <a:pPr>
              <a:defRPr sz="2200"/>
            </a:pPr>
            <a:r>
              <a:t>Frontend</a:t>
            </a:r>
          </a:p>
          <a:p>
            <a:pPr lvl="1" marL="685800" indent="-228600">
              <a:spcBef>
                <a:spcPts val="500"/>
              </a:spcBef>
              <a:defRPr sz="2200"/>
            </a:pPr>
            <a:r>
              <a:t>Framework – React.js</a:t>
            </a:r>
            <a:endParaRPr sz="2400"/>
          </a:p>
          <a:p>
            <a:pPr lvl="1" marL="685800" indent="-228600">
              <a:spcBef>
                <a:spcPts val="500"/>
              </a:spcBef>
              <a:defRPr sz="2200"/>
            </a:pPr>
            <a:r>
              <a:t>Authentication – Firebase or similar library</a:t>
            </a:r>
            <a:endParaRPr sz="2400"/>
          </a:p>
          <a:p>
            <a:pPr>
              <a:defRPr sz="2200"/>
            </a:pPr>
            <a:r>
              <a:t>Backend</a:t>
            </a:r>
          </a:p>
          <a:p>
            <a:pPr lvl="1" marL="685800" indent="-228600">
              <a:spcBef>
                <a:spcPts val="500"/>
              </a:spcBef>
              <a:defRPr sz="2200"/>
            </a:pPr>
            <a:r>
              <a:t>Framework - Django (Python)</a:t>
            </a:r>
            <a:endParaRPr sz="2400"/>
          </a:p>
          <a:p>
            <a:pPr lvl="1" marL="685800" indent="-228600">
              <a:spcBef>
                <a:spcPts val="500"/>
              </a:spcBef>
              <a:defRPr sz="2200"/>
            </a:pPr>
            <a:r>
              <a:t>Database API – REST</a:t>
            </a:r>
            <a:endParaRPr sz="2400"/>
          </a:p>
          <a:p>
            <a:pPr>
              <a:defRPr sz="2200"/>
            </a:pPr>
            <a:r>
              <a:t>Database</a:t>
            </a:r>
          </a:p>
          <a:p>
            <a:pPr lvl="1" marL="685800" indent="-228600">
              <a:spcBef>
                <a:spcPts val="500"/>
              </a:spcBef>
              <a:defRPr sz="2200"/>
            </a:pPr>
            <a:r>
              <a:t>Framework - PostgreSQL</a:t>
            </a:r>
          </a:p>
        </p:txBody>
      </p:sp>
      <p:pic>
        <p:nvPicPr>
          <p:cNvPr id="147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863840" y="448517"/>
            <a:ext cx="4014216" cy="3191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48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863840" y="4471372"/>
            <a:ext cx="3995929" cy="139191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Rectangle 1030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" name="Title 1"/>
          <p:cNvSpPr txBox="1"/>
          <p:nvPr>
            <p:ph type="title"/>
          </p:nvPr>
        </p:nvSpPr>
        <p:spPr>
          <a:xfrm>
            <a:off x="640079" y="329184"/>
            <a:ext cx="6894578" cy="1783079"/>
          </a:xfrm>
          <a:prstGeom prst="rect">
            <a:avLst/>
          </a:prstGeom>
        </p:spPr>
        <p:txBody>
          <a:bodyPr anchor="b"/>
          <a:lstStyle>
            <a:lvl1pPr>
              <a:defRPr sz="5400"/>
            </a:lvl1pPr>
          </a:lstStyle>
          <a:p>
            <a:pPr/>
            <a:r>
              <a:t>Related Apps</a:t>
            </a:r>
          </a:p>
        </p:txBody>
      </p:sp>
      <p:grpSp>
        <p:nvGrpSpPr>
          <p:cNvPr id="154" name="sketch line"/>
          <p:cNvGrpSpPr/>
          <p:nvPr/>
        </p:nvGrpSpPr>
        <p:grpSpPr>
          <a:xfrm>
            <a:off x="758846" y="2375351"/>
            <a:ext cx="4243996" cy="55234"/>
            <a:chOff x="0" y="0"/>
            <a:chExt cx="4243995" cy="55232"/>
          </a:xfrm>
        </p:grpSpPr>
        <p:sp>
          <p:nvSpPr>
            <p:cNvPr id="152" name="Shape"/>
            <p:cNvSpPr/>
            <p:nvPr/>
          </p:nvSpPr>
          <p:spPr>
            <a:xfrm>
              <a:off x="0" y="6523"/>
              <a:ext cx="4243695" cy="487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8" h="14183" fill="norm" stroke="1" extrusionOk="0">
                  <a:moveTo>
                    <a:pt x="0" y="4034"/>
                  </a:moveTo>
                  <a:cubicBezTo>
                    <a:pt x="732" y="8876"/>
                    <a:pt x="1358" y="8357"/>
                    <a:pt x="2654" y="4034"/>
                  </a:cubicBezTo>
                  <a:cubicBezTo>
                    <a:pt x="3950" y="-289"/>
                    <a:pt x="4146" y="-1022"/>
                    <a:pt x="5091" y="4034"/>
                  </a:cubicBezTo>
                  <a:cubicBezTo>
                    <a:pt x="6037" y="9089"/>
                    <a:pt x="6884" y="-2811"/>
                    <a:pt x="7745" y="4034"/>
                  </a:cubicBezTo>
                  <a:cubicBezTo>
                    <a:pt x="8605" y="10878"/>
                    <a:pt x="9617" y="5743"/>
                    <a:pt x="10830" y="4034"/>
                  </a:cubicBezTo>
                  <a:cubicBezTo>
                    <a:pt x="12043" y="2324"/>
                    <a:pt x="13338" y="-4118"/>
                    <a:pt x="14131" y="4034"/>
                  </a:cubicBezTo>
                  <a:cubicBezTo>
                    <a:pt x="14925" y="12186"/>
                    <a:pt x="15939" y="-3267"/>
                    <a:pt x="17649" y="4034"/>
                  </a:cubicBezTo>
                  <a:cubicBezTo>
                    <a:pt x="19358" y="11334"/>
                    <a:pt x="20447" y="4928"/>
                    <a:pt x="21598" y="4034"/>
                  </a:cubicBezTo>
                  <a:cubicBezTo>
                    <a:pt x="21596" y="5828"/>
                    <a:pt x="21598" y="7462"/>
                    <a:pt x="21598" y="9359"/>
                  </a:cubicBezTo>
                  <a:cubicBezTo>
                    <a:pt x="20449" y="2351"/>
                    <a:pt x="19516" y="7928"/>
                    <a:pt x="18297" y="9359"/>
                  </a:cubicBezTo>
                  <a:cubicBezTo>
                    <a:pt x="17077" y="10789"/>
                    <a:pt x="16308" y="4869"/>
                    <a:pt x="14779" y="9359"/>
                  </a:cubicBezTo>
                  <a:cubicBezTo>
                    <a:pt x="13251" y="13848"/>
                    <a:pt x="12857" y="17482"/>
                    <a:pt x="11262" y="9359"/>
                  </a:cubicBezTo>
                  <a:cubicBezTo>
                    <a:pt x="9667" y="1235"/>
                    <a:pt x="10008" y="12679"/>
                    <a:pt x="8825" y="9359"/>
                  </a:cubicBezTo>
                  <a:cubicBezTo>
                    <a:pt x="7641" y="6038"/>
                    <a:pt x="6839" y="7671"/>
                    <a:pt x="5523" y="9359"/>
                  </a:cubicBezTo>
                  <a:cubicBezTo>
                    <a:pt x="4208" y="11046"/>
                    <a:pt x="3961" y="14401"/>
                    <a:pt x="2654" y="9359"/>
                  </a:cubicBezTo>
                  <a:cubicBezTo>
                    <a:pt x="1347" y="4316"/>
                    <a:pt x="612" y="5277"/>
                    <a:pt x="0" y="9359"/>
                  </a:cubicBezTo>
                  <a:cubicBezTo>
                    <a:pt x="4" y="7178"/>
                    <a:pt x="-2" y="6416"/>
                    <a:pt x="0" y="4034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53" name="Shape"/>
            <p:cNvSpPr/>
            <p:nvPr/>
          </p:nvSpPr>
          <p:spPr>
            <a:xfrm>
              <a:off x="60" y="0"/>
              <a:ext cx="4243936" cy="462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6" h="14334" fill="norm" stroke="1" extrusionOk="0">
                  <a:moveTo>
                    <a:pt x="0" y="6315"/>
                  </a:moveTo>
                  <a:cubicBezTo>
                    <a:pt x="1086" y="-195"/>
                    <a:pt x="1565" y="700"/>
                    <a:pt x="2437" y="6315"/>
                  </a:cubicBezTo>
                  <a:cubicBezTo>
                    <a:pt x="3310" y="11930"/>
                    <a:pt x="4229" y="-267"/>
                    <a:pt x="4874" y="6315"/>
                  </a:cubicBezTo>
                  <a:cubicBezTo>
                    <a:pt x="5519" y="12897"/>
                    <a:pt x="6624" y="14102"/>
                    <a:pt x="7743" y="6315"/>
                  </a:cubicBezTo>
                  <a:cubicBezTo>
                    <a:pt x="8863" y="-1472"/>
                    <a:pt x="10026" y="-2716"/>
                    <a:pt x="11260" y="6315"/>
                  </a:cubicBezTo>
                  <a:cubicBezTo>
                    <a:pt x="12494" y="15346"/>
                    <a:pt x="13021" y="4829"/>
                    <a:pt x="13913" y="6315"/>
                  </a:cubicBezTo>
                  <a:cubicBezTo>
                    <a:pt x="14805" y="7802"/>
                    <a:pt x="15761" y="2159"/>
                    <a:pt x="16566" y="6315"/>
                  </a:cubicBezTo>
                  <a:cubicBezTo>
                    <a:pt x="17371" y="10471"/>
                    <a:pt x="20253" y="3178"/>
                    <a:pt x="21594" y="6315"/>
                  </a:cubicBezTo>
                  <a:cubicBezTo>
                    <a:pt x="21599" y="9097"/>
                    <a:pt x="21592" y="9216"/>
                    <a:pt x="21594" y="11983"/>
                  </a:cubicBezTo>
                  <a:cubicBezTo>
                    <a:pt x="20654" y="15999"/>
                    <a:pt x="19899" y="7294"/>
                    <a:pt x="18294" y="11983"/>
                  </a:cubicBezTo>
                  <a:cubicBezTo>
                    <a:pt x="16689" y="16673"/>
                    <a:pt x="16894" y="5083"/>
                    <a:pt x="15641" y="11983"/>
                  </a:cubicBezTo>
                  <a:cubicBezTo>
                    <a:pt x="14387" y="18884"/>
                    <a:pt x="14083" y="6893"/>
                    <a:pt x="12988" y="11983"/>
                  </a:cubicBezTo>
                  <a:cubicBezTo>
                    <a:pt x="11893" y="17074"/>
                    <a:pt x="11103" y="12367"/>
                    <a:pt x="9687" y="11983"/>
                  </a:cubicBezTo>
                  <a:cubicBezTo>
                    <a:pt x="8270" y="11599"/>
                    <a:pt x="7927" y="13808"/>
                    <a:pt x="6170" y="11983"/>
                  </a:cubicBezTo>
                  <a:cubicBezTo>
                    <a:pt x="4413" y="10159"/>
                    <a:pt x="4450" y="11159"/>
                    <a:pt x="3733" y="11983"/>
                  </a:cubicBezTo>
                  <a:cubicBezTo>
                    <a:pt x="3016" y="12808"/>
                    <a:pt x="934" y="10888"/>
                    <a:pt x="0" y="11983"/>
                  </a:cubicBezTo>
                  <a:cubicBezTo>
                    <a:pt x="-1" y="10723"/>
                    <a:pt x="3" y="8118"/>
                    <a:pt x="0" y="6315"/>
                  </a:cubicBezTo>
                  <a:close/>
                </a:path>
              </a:pathLst>
            </a:custGeom>
            <a:noFill/>
            <a:ln w="41275" cap="rnd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155" name="Content Placeholder 2"/>
          <p:cNvSpPr txBox="1"/>
          <p:nvPr>
            <p:ph type="body" idx="1"/>
          </p:nvPr>
        </p:nvSpPr>
        <p:spPr>
          <a:xfrm>
            <a:off x="640079" y="2706623"/>
            <a:ext cx="10900369" cy="3483865"/>
          </a:xfrm>
          <a:prstGeom prst="rect">
            <a:avLst/>
          </a:prstGeom>
        </p:spPr>
        <p:txBody>
          <a:bodyPr/>
          <a:lstStyle/>
          <a:p>
            <a:pPr>
              <a:defRPr sz="2200"/>
            </a:pPr>
            <a:r>
              <a:t>mentorcliQ</a:t>
            </a:r>
          </a:p>
          <a:p>
            <a:pPr lvl="1" marL="685800" indent="-228600">
              <a:spcBef>
                <a:spcPts val="500"/>
              </a:spcBef>
              <a:defRPr sz="2200"/>
            </a:pPr>
            <a:r>
              <a:t>Gale-Shepley algorithm</a:t>
            </a:r>
            <a:endParaRPr sz="2400"/>
          </a:p>
          <a:p>
            <a:pPr lvl="1" marL="685800" indent="-228600">
              <a:spcBef>
                <a:spcPts val="500"/>
              </a:spcBef>
              <a:defRPr sz="2200"/>
            </a:pPr>
            <a:r>
              <a:t>Suggested vs. self matching</a:t>
            </a:r>
            <a:endParaRPr sz="2400"/>
          </a:p>
          <a:p>
            <a:pPr>
              <a:defRPr sz="2200"/>
            </a:pPr>
            <a:r>
              <a:t>Qooper</a:t>
            </a:r>
          </a:p>
          <a:p>
            <a:pPr lvl="1" marL="685800" indent="-228600">
              <a:spcBef>
                <a:spcPts val="500"/>
              </a:spcBef>
              <a:defRPr sz="2200"/>
            </a:pPr>
            <a:r>
              <a:t>Flash mentoring</a:t>
            </a:r>
            <a:endParaRPr sz="2400"/>
          </a:p>
          <a:p>
            <a:pPr>
              <a:defRPr sz="2200"/>
            </a:pPr>
            <a:r>
              <a:t>LinkedIn</a:t>
            </a:r>
          </a:p>
          <a:p>
            <a:pPr lvl="1" marL="685800" indent="-228600">
              <a:spcBef>
                <a:spcPts val="500"/>
              </a:spcBef>
              <a:defRPr sz="2200"/>
            </a:pPr>
            <a:r>
              <a:t>Boolean / filtered search</a:t>
            </a:r>
          </a:p>
        </p:txBody>
      </p:sp>
      <p:pic>
        <p:nvPicPr>
          <p:cNvPr id="156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219214" y="1375869"/>
            <a:ext cx="1781176" cy="1781176"/>
          </a:xfrm>
          <a:prstGeom prst="rect">
            <a:avLst/>
          </a:prstGeom>
          <a:ln w="12700">
            <a:miter lim="400000"/>
          </a:ln>
        </p:spPr>
      </p:pic>
      <p:pic>
        <p:nvPicPr>
          <p:cNvPr id="157" name="Picture 5" descr="Picture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076695" y="1017684"/>
            <a:ext cx="1683299" cy="1689867"/>
          </a:xfrm>
          <a:prstGeom prst="rect">
            <a:avLst/>
          </a:prstGeom>
          <a:ln w="12700">
            <a:miter lim="400000"/>
          </a:ln>
        </p:spPr>
      </p:pic>
      <p:pic>
        <p:nvPicPr>
          <p:cNvPr id="158" name="Picture 6" descr="Picture 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822235" y="3565394"/>
            <a:ext cx="2291256" cy="215724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Rectangle 1030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1" name="Title 1"/>
          <p:cNvSpPr txBox="1"/>
          <p:nvPr>
            <p:ph type="title"/>
          </p:nvPr>
        </p:nvSpPr>
        <p:spPr>
          <a:xfrm>
            <a:off x="640079" y="329184"/>
            <a:ext cx="6894578" cy="1783079"/>
          </a:xfrm>
          <a:prstGeom prst="rect">
            <a:avLst/>
          </a:prstGeom>
        </p:spPr>
        <p:txBody>
          <a:bodyPr anchor="b"/>
          <a:lstStyle>
            <a:lvl1pPr>
              <a:defRPr sz="5400"/>
            </a:lvl1pPr>
          </a:lstStyle>
          <a:p>
            <a:pPr/>
            <a:r>
              <a:t>Challenges</a:t>
            </a:r>
          </a:p>
        </p:txBody>
      </p:sp>
      <p:grpSp>
        <p:nvGrpSpPr>
          <p:cNvPr id="164" name="sketch line"/>
          <p:cNvGrpSpPr/>
          <p:nvPr/>
        </p:nvGrpSpPr>
        <p:grpSpPr>
          <a:xfrm>
            <a:off x="758846" y="2375351"/>
            <a:ext cx="4243996" cy="55234"/>
            <a:chOff x="0" y="0"/>
            <a:chExt cx="4243995" cy="55232"/>
          </a:xfrm>
        </p:grpSpPr>
        <p:sp>
          <p:nvSpPr>
            <p:cNvPr id="162" name="Shape"/>
            <p:cNvSpPr/>
            <p:nvPr/>
          </p:nvSpPr>
          <p:spPr>
            <a:xfrm>
              <a:off x="0" y="6523"/>
              <a:ext cx="4243695" cy="487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8" h="14183" fill="norm" stroke="1" extrusionOk="0">
                  <a:moveTo>
                    <a:pt x="0" y="4034"/>
                  </a:moveTo>
                  <a:cubicBezTo>
                    <a:pt x="732" y="8876"/>
                    <a:pt x="1358" y="8357"/>
                    <a:pt x="2654" y="4034"/>
                  </a:cubicBezTo>
                  <a:cubicBezTo>
                    <a:pt x="3950" y="-289"/>
                    <a:pt x="4146" y="-1022"/>
                    <a:pt x="5091" y="4034"/>
                  </a:cubicBezTo>
                  <a:cubicBezTo>
                    <a:pt x="6037" y="9089"/>
                    <a:pt x="6884" y="-2811"/>
                    <a:pt x="7745" y="4034"/>
                  </a:cubicBezTo>
                  <a:cubicBezTo>
                    <a:pt x="8605" y="10878"/>
                    <a:pt x="9617" y="5743"/>
                    <a:pt x="10830" y="4034"/>
                  </a:cubicBezTo>
                  <a:cubicBezTo>
                    <a:pt x="12043" y="2324"/>
                    <a:pt x="13338" y="-4118"/>
                    <a:pt x="14131" y="4034"/>
                  </a:cubicBezTo>
                  <a:cubicBezTo>
                    <a:pt x="14925" y="12186"/>
                    <a:pt x="15939" y="-3267"/>
                    <a:pt x="17649" y="4034"/>
                  </a:cubicBezTo>
                  <a:cubicBezTo>
                    <a:pt x="19358" y="11334"/>
                    <a:pt x="20447" y="4928"/>
                    <a:pt x="21598" y="4034"/>
                  </a:cubicBezTo>
                  <a:cubicBezTo>
                    <a:pt x="21596" y="5828"/>
                    <a:pt x="21598" y="7462"/>
                    <a:pt x="21598" y="9359"/>
                  </a:cubicBezTo>
                  <a:cubicBezTo>
                    <a:pt x="20449" y="2351"/>
                    <a:pt x="19516" y="7928"/>
                    <a:pt x="18297" y="9359"/>
                  </a:cubicBezTo>
                  <a:cubicBezTo>
                    <a:pt x="17077" y="10789"/>
                    <a:pt x="16308" y="4869"/>
                    <a:pt x="14779" y="9359"/>
                  </a:cubicBezTo>
                  <a:cubicBezTo>
                    <a:pt x="13251" y="13848"/>
                    <a:pt x="12857" y="17482"/>
                    <a:pt x="11262" y="9359"/>
                  </a:cubicBezTo>
                  <a:cubicBezTo>
                    <a:pt x="9667" y="1235"/>
                    <a:pt x="10008" y="12679"/>
                    <a:pt x="8825" y="9359"/>
                  </a:cubicBezTo>
                  <a:cubicBezTo>
                    <a:pt x="7641" y="6038"/>
                    <a:pt x="6839" y="7671"/>
                    <a:pt x="5523" y="9359"/>
                  </a:cubicBezTo>
                  <a:cubicBezTo>
                    <a:pt x="4208" y="11046"/>
                    <a:pt x="3961" y="14401"/>
                    <a:pt x="2654" y="9359"/>
                  </a:cubicBezTo>
                  <a:cubicBezTo>
                    <a:pt x="1347" y="4316"/>
                    <a:pt x="612" y="5277"/>
                    <a:pt x="0" y="9359"/>
                  </a:cubicBezTo>
                  <a:cubicBezTo>
                    <a:pt x="4" y="7178"/>
                    <a:pt x="-2" y="6416"/>
                    <a:pt x="0" y="4034"/>
                  </a:cubicBez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63" name="Shape"/>
            <p:cNvSpPr/>
            <p:nvPr/>
          </p:nvSpPr>
          <p:spPr>
            <a:xfrm>
              <a:off x="60" y="0"/>
              <a:ext cx="4243936" cy="462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6" h="14334" fill="norm" stroke="1" extrusionOk="0">
                  <a:moveTo>
                    <a:pt x="0" y="6315"/>
                  </a:moveTo>
                  <a:cubicBezTo>
                    <a:pt x="1086" y="-195"/>
                    <a:pt x="1565" y="700"/>
                    <a:pt x="2437" y="6315"/>
                  </a:cubicBezTo>
                  <a:cubicBezTo>
                    <a:pt x="3310" y="11930"/>
                    <a:pt x="4229" y="-267"/>
                    <a:pt x="4874" y="6315"/>
                  </a:cubicBezTo>
                  <a:cubicBezTo>
                    <a:pt x="5519" y="12897"/>
                    <a:pt x="6624" y="14102"/>
                    <a:pt x="7743" y="6315"/>
                  </a:cubicBezTo>
                  <a:cubicBezTo>
                    <a:pt x="8863" y="-1472"/>
                    <a:pt x="10026" y="-2716"/>
                    <a:pt x="11260" y="6315"/>
                  </a:cubicBezTo>
                  <a:cubicBezTo>
                    <a:pt x="12494" y="15346"/>
                    <a:pt x="13021" y="4829"/>
                    <a:pt x="13913" y="6315"/>
                  </a:cubicBezTo>
                  <a:cubicBezTo>
                    <a:pt x="14805" y="7802"/>
                    <a:pt x="15761" y="2159"/>
                    <a:pt x="16566" y="6315"/>
                  </a:cubicBezTo>
                  <a:cubicBezTo>
                    <a:pt x="17371" y="10471"/>
                    <a:pt x="20253" y="3178"/>
                    <a:pt x="21594" y="6315"/>
                  </a:cubicBezTo>
                  <a:cubicBezTo>
                    <a:pt x="21599" y="9097"/>
                    <a:pt x="21592" y="9216"/>
                    <a:pt x="21594" y="11983"/>
                  </a:cubicBezTo>
                  <a:cubicBezTo>
                    <a:pt x="20654" y="15999"/>
                    <a:pt x="19899" y="7294"/>
                    <a:pt x="18294" y="11983"/>
                  </a:cubicBezTo>
                  <a:cubicBezTo>
                    <a:pt x="16689" y="16673"/>
                    <a:pt x="16894" y="5083"/>
                    <a:pt x="15641" y="11983"/>
                  </a:cubicBezTo>
                  <a:cubicBezTo>
                    <a:pt x="14387" y="18884"/>
                    <a:pt x="14083" y="6893"/>
                    <a:pt x="12988" y="11983"/>
                  </a:cubicBezTo>
                  <a:cubicBezTo>
                    <a:pt x="11893" y="17074"/>
                    <a:pt x="11103" y="12367"/>
                    <a:pt x="9687" y="11983"/>
                  </a:cubicBezTo>
                  <a:cubicBezTo>
                    <a:pt x="8270" y="11599"/>
                    <a:pt x="7927" y="13808"/>
                    <a:pt x="6170" y="11983"/>
                  </a:cubicBezTo>
                  <a:cubicBezTo>
                    <a:pt x="4413" y="10159"/>
                    <a:pt x="4450" y="11159"/>
                    <a:pt x="3733" y="11983"/>
                  </a:cubicBezTo>
                  <a:cubicBezTo>
                    <a:pt x="3016" y="12808"/>
                    <a:pt x="934" y="10888"/>
                    <a:pt x="0" y="11983"/>
                  </a:cubicBezTo>
                  <a:cubicBezTo>
                    <a:pt x="-1" y="10723"/>
                    <a:pt x="3" y="8118"/>
                    <a:pt x="0" y="6315"/>
                  </a:cubicBezTo>
                  <a:close/>
                </a:path>
              </a:pathLst>
            </a:custGeom>
            <a:noFill/>
            <a:ln w="41275" cap="rnd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165" name="Content Placeholder 2"/>
          <p:cNvSpPr txBox="1"/>
          <p:nvPr>
            <p:ph type="body" sz="half" idx="1"/>
          </p:nvPr>
        </p:nvSpPr>
        <p:spPr>
          <a:xfrm>
            <a:off x="640079" y="2706623"/>
            <a:ext cx="5824151" cy="3483865"/>
          </a:xfrm>
          <a:prstGeom prst="rect">
            <a:avLst/>
          </a:prstGeom>
        </p:spPr>
        <p:txBody>
          <a:bodyPr/>
          <a:lstStyle/>
          <a:p>
            <a:pPr>
              <a:defRPr sz="2500"/>
            </a:pPr>
            <a:r>
              <a:t>Freshmen preferences evolving (Dynamic constraint satisfaction)</a:t>
            </a:r>
          </a:p>
          <a:p>
            <a:pPr>
              <a:defRPr sz="2500"/>
            </a:pPr>
            <a:r>
              <a:t>Modifying the Gale-Shepley algorithm</a:t>
            </a:r>
          </a:p>
          <a:p>
            <a:pPr lvl="1" marL="685800" indent="-228600">
              <a:spcBef>
                <a:spcPts val="500"/>
              </a:spcBef>
              <a:defRPr sz="2200"/>
            </a:pPr>
            <a:r>
              <a:t>fairness, many-one relationships</a:t>
            </a:r>
          </a:p>
          <a:p>
            <a:pPr>
              <a:defRPr sz="2500"/>
            </a:pPr>
            <a:r>
              <a:t>Balancing:</a:t>
            </a:r>
          </a:p>
          <a:p>
            <a:pPr lvl="1" marL="685800" indent="-228600">
              <a:spcBef>
                <a:spcPts val="500"/>
              </a:spcBef>
              <a:defRPr sz="2200"/>
            </a:pPr>
            <a:r>
              <a:t>Mentor workload and student needs</a:t>
            </a:r>
          </a:p>
          <a:p>
            <a:pPr lvl="1" marL="685800" indent="-228600">
              <a:spcBef>
                <a:spcPts val="500"/>
              </a:spcBef>
              <a:defRPr sz="2200"/>
            </a:pPr>
            <a:r>
              <a:t>Ease of use and development time</a:t>
            </a:r>
          </a:p>
          <a:p>
            <a:pPr lvl="1" marL="685800" indent="-228600">
              <a:spcBef>
                <a:spcPts val="500"/>
              </a:spcBef>
              <a:defRPr sz="2200"/>
            </a:pPr>
            <a:r>
              <a:t>Functionality and maintainability</a:t>
            </a:r>
          </a:p>
        </p:txBody>
      </p:sp>
      <p:pic>
        <p:nvPicPr>
          <p:cNvPr id="166" name="Graphic 3" descr="Graphic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882466" y="836989"/>
            <a:ext cx="1767115" cy="1748972"/>
          </a:xfrm>
          <a:prstGeom prst="rect">
            <a:avLst/>
          </a:prstGeom>
          <a:ln w="12700">
            <a:miter lim="400000"/>
          </a:ln>
        </p:spPr>
      </p:pic>
      <p:pic>
        <p:nvPicPr>
          <p:cNvPr id="167" name="Graphic 4" descr="Graphic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945085" y="2705705"/>
            <a:ext cx="1815496" cy="1815495"/>
          </a:xfrm>
          <a:prstGeom prst="rect">
            <a:avLst/>
          </a:prstGeom>
          <a:ln w="12700">
            <a:miter lim="400000"/>
          </a:ln>
        </p:spPr>
      </p:pic>
      <p:pic>
        <p:nvPicPr>
          <p:cNvPr id="168" name="Graphic 5" descr="Graphic 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765419" y="4126896"/>
            <a:ext cx="1894115" cy="189411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ptos"/>
        <a:ea typeface="Aptos"/>
        <a:cs typeface="Aptos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ptos"/>
        <a:ea typeface="Aptos"/>
        <a:cs typeface="Aptos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